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sldIdLst>
    <p:sldId id="300" r:id="rId5"/>
    <p:sldId id="311" r:id="rId6"/>
    <p:sldId id="312" r:id="rId7"/>
    <p:sldId id="315" r:id="rId8"/>
    <p:sldId id="313" r:id="rId9"/>
    <p:sldId id="314" r:id="rId10"/>
    <p:sldId id="316" r:id="rId11"/>
    <p:sldId id="323" r:id="rId12"/>
    <p:sldId id="322" r:id="rId13"/>
    <p:sldId id="318" r:id="rId14"/>
    <p:sldId id="319" r:id="rId15"/>
    <p:sldId id="321" r:id="rId16"/>
    <p:sldId id="320" r:id="rId17"/>
    <p:sldId id="31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E"/>
    <a:srgbClr val="003399"/>
    <a:srgbClr val="CCFFCC"/>
    <a:srgbClr val="CCECFF"/>
    <a:srgbClr val="000044"/>
    <a:srgbClr val="FBBDFC"/>
    <a:srgbClr val="608EFD"/>
    <a:srgbClr val="CFD8E8"/>
    <a:srgbClr val="000544"/>
    <a:srgbClr val="CE5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595" autoAdjust="0"/>
  </p:normalViewPr>
  <p:slideViewPr>
    <p:cSldViewPr snapToGrid="0" snapToObjects="1">
      <p:cViewPr>
        <p:scale>
          <a:sx n="75" d="100"/>
          <a:sy n="75" d="100"/>
        </p:scale>
        <p:origin x="882" y="20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ADF8-166D-464F-9CD6-EB1A92ACA0C7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7EA8C-4442-2B43-BEFB-AB7F822E7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74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89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Exclusion of Human Expertise in MAS:</a:t>
            </a:r>
            <a:r>
              <a:rPr lang="en-GB" dirty="0"/>
              <a:t> Existing Multi-Agent Systems (MAS) prioritize full autonomy, critically excluding real-time human contextual knowledge and intervention, which reduces system adaptability.   </a:t>
            </a:r>
          </a:p>
          <a:p>
            <a:r>
              <a:rPr lang="en-GB" b="1" dirty="0"/>
              <a:t>Reactive Nature of PdM:</a:t>
            </a:r>
            <a:r>
              <a:rPr lang="en-GB" dirty="0"/>
              <a:t> Traditional Predictive Maintenance (PdM) relies solely on historical data, operating reactively without a mechanism for incorporating real-time human insights, limiting effectiveness and trust.   </a:t>
            </a:r>
          </a:p>
          <a:p>
            <a:r>
              <a:rPr lang="en-GB" b="1" dirty="0"/>
              <a:t>Lack of Unified Frameworks:</a:t>
            </a:r>
            <a:r>
              <a:rPr lang="en-GB" dirty="0"/>
              <a:t> There is a critical gap in frameworks that seamlessly integrate Human-in-the-Loop (HITL) systems within a complex MAS for tasks like predictive maintenance.  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60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Framework Validation in Diverse Environments:</a:t>
            </a:r>
            <a:r>
              <a:rPr lang="en-GB" dirty="0"/>
              <a:t> Future work should focus on validating the IAPM framework in </a:t>
            </a:r>
            <a:r>
              <a:rPr lang="en-GB" b="1" dirty="0"/>
              <a:t>different industrial environments</a:t>
            </a:r>
            <a:r>
              <a:rPr lang="en-GB" dirty="0"/>
              <a:t> (beyond the single CNC milling machine case study) and with a </a:t>
            </a:r>
            <a:r>
              <a:rPr lang="en-GB" b="1" dirty="0"/>
              <a:t>larger volume of proprietary, real-world data</a:t>
            </a:r>
            <a:r>
              <a:rPr lang="en-GB" dirty="0"/>
              <a:t>.   </a:t>
            </a:r>
          </a:p>
          <a:p>
            <a:r>
              <a:rPr lang="en-GB" b="1" dirty="0"/>
              <a:t>Advanced RL Algorithm Investigation:</a:t>
            </a:r>
            <a:r>
              <a:rPr lang="en-GB" dirty="0"/>
              <a:t> Further investigation is needed into </a:t>
            </a:r>
            <a:r>
              <a:rPr lang="en-GB" b="1" dirty="0"/>
              <a:t>new Reinforcement Learning algorithms</a:t>
            </a:r>
            <a:r>
              <a:rPr lang="en-GB" dirty="0"/>
              <a:t> optimized specifically for </a:t>
            </a:r>
            <a:r>
              <a:rPr lang="en-GB" b="1" dirty="0"/>
              <a:t>multi-agent industrial settings</a:t>
            </a:r>
            <a:r>
              <a:rPr lang="en-GB" dirty="0"/>
              <a:t>.   </a:t>
            </a:r>
          </a:p>
          <a:p>
            <a:r>
              <a:rPr lang="en-GB" b="1" dirty="0"/>
              <a:t>Long-Term Human-AI Impact Analysis:</a:t>
            </a:r>
            <a:r>
              <a:rPr lang="en-GB" dirty="0"/>
              <a:t> Research should explore the </a:t>
            </a:r>
            <a:r>
              <a:rPr lang="en-GB" b="1" dirty="0"/>
              <a:t>long-term effects of human-AI collaboration</a:t>
            </a:r>
            <a:r>
              <a:rPr lang="en-GB" dirty="0"/>
              <a:t> on key factors, including operational efficiency, operator trust, and worker satisfaction.  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10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</a:t>
            </a:r>
            <a:r>
              <a:rPr lang="en-US" baseline="0" dirty="0"/>
              <a:t> Uppercase, Calibri size 60, XJTLU Navy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F7EA8C-4442-2B43-BEFB-AB7F822E77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1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38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2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29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7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6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5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F1B10-1EBC-FD4C-9140-0291364A581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4AB98-1115-2D49-A18E-6B66BF9F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5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hyperlink" Target="http://www.xjtlu.edu.cn/e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2.emf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2CEDB2-9462-4C4D-8A56-5F94BC932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82198" cy="66724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1063" y="1310255"/>
            <a:ext cx="9720071" cy="4794716"/>
          </a:xfrm>
          <a:solidFill>
            <a:srgbClr val="003399">
              <a:alpha val="7600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>
            <a:noAutofit/>
          </a:bodyPr>
          <a:lstStyle/>
          <a:p>
            <a:br>
              <a:rPr lang="en-GB" sz="4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GB" sz="4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Hybrid Framework for Real-Time Human Coordination and Predictive Maintenance in Multi-Agent Systems</a:t>
            </a:r>
            <a:endParaRPr lang="en-US" sz="8000" b="1" cap="all" spc="3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6312" y="370941"/>
            <a:ext cx="3356173" cy="7178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0800000">
            <a:off x="-1" y="6672410"/>
            <a:ext cx="12191999" cy="214835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FC13A-EBB7-4D46-951F-9509F48519ED}"/>
              </a:ext>
            </a:extLst>
          </p:cNvPr>
          <p:cNvSpPr txBox="1"/>
          <p:nvPr/>
        </p:nvSpPr>
        <p:spPr>
          <a:xfrm>
            <a:off x="2404923" y="4187203"/>
            <a:ext cx="73723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Researcher: Izhar Oswaldo Escudero Ornelas</a:t>
            </a:r>
          </a:p>
          <a:p>
            <a:pPr algn="ctr"/>
            <a:r>
              <a:rPr lang="en-GB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RA: </a:t>
            </a:r>
            <a:r>
              <a:rPr lang="en-GB" sz="20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Zhongyi</a:t>
            </a:r>
            <a:r>
              <a:rPr lang="en-GB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Wang</a:t>
            </a:r>
          </a:p>
          <a:p>
            <a:pPr algn="ctr"/>
            <a:endParaRPr lang="en-GB" sz="20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/>
            <a:r>
              <a:rPr lang="en-GB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School of Internet of Things</a:t>
            </a:r>
          </a:p>
          <a:p>
            <a:pPr algn="ctr"/>
            <a:r>
              <a:rPr lang="en-GB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December, 2025.</a:t>
            </a:r>
          </a:p>
        </p:txBody>
      </p:sp>
    </p:spTree>
    <p:extLst>
      <p:ext uri="{BB962C8B-B14F-4D97-AF65-F5344CB8AC3E}">
        <p14:creationId xmlns:p14="http://schemas.microsoft.com/office/powerpoint/2010/main" val="319297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978491-4909-4C61-9CE3-998D595E5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894" y="269875"/>
            <a:ext cx="4011084" cy="116205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87DF54-82CD-4FBB-8F5F-36176FE0E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00951" y="1692014"/>
            <a:ext cx="4011084" cy="4691063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sz="2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Background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sz="2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Literature Review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sz="2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Methodology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sz="2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Main Findings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sz="2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Conclusion</a:t>
            </a:r>
          </a:p>
          <a:p>
            <a:endParaRPr lang="en-GB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12D67F-9BEB-4C5A-A7AD-F6B142A84761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AE16B0-E641-4337-BB3B-B33849D4D4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80" r="14580"/>
          <a:stretch/>
        </p:blipFill>
        <p:spPr>
          <a:xfrm>
            <a:off x="-1" y="0"/>
            <a:ext cx="7000876" cy="66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3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BEEF-7D42-4ABD-B087-CE65068E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04" y="98949"/>
            <a:ext cx="4011084" cy="1162050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Background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C0274-8A24-435E-B870-46C2763B2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441" y="1340465"/>
            <a:ext cx="6029325" cy="4750199"/>
          </a:xfrm>
          <a:solidFill>
            <a:schemeClr val="bg1"/>
          </a:solidFill>
          <a:effectLst>
            <a:glow rad="635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 b="1" dirty="0">
              <a:solidFill>
                <a:schemeClr val="tx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MAS Design Flaw: </a:t>
            </a:r>
            <a:r>
              <a:rPr lang="en-GB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Existing Multi-Agent Systems (MAS) in manufacturing prioritize full autonomy, leading to a critical design flaw where they exclude real-time human expertise and intervention, reducing adaptability in dynamic, high-stakes scenarios.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PdM Limitation: </a:t>
            </a:r>
            <a:r>
              <a:rPr lang="en-GB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Traditional Predictive Maintenance (PdM) systems, despite leveraging IIoT and ML, are predominantly reactive and rely solely on historical data, lacking a mechanism to incorporate real-time human contextual knowledge.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Hybrid Solution: </a:t>
            </a:r>
            <a:r>
              <a:rPr lang="en-GB" sz="1800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absence of a bidirectional communication channel between autonomous computational models (MAS/PdM) and human operators results in inefficiencies, reduced trust, and limits the overall effectiveness of advanced industrial systems.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6745F4-3C0B-4C80-9A98-9809269447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91" r="8150"/>
          <a:stretch/>
        </p:blipFill>
        <p:spPr>
          <a:xfrm>
            <a:off x="6402208" y="0"/>
            <a:ext cx="5789791" cy="664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3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33DC3F-22BF-4004-9FBC-40B4D95F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5019"/>
            <a:ext cx="12191998" cy="675739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BEAAA1B-3878-4B53-9BFE-2768A1D2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968" y="567936"/>
            <a:ext cx="4940060" cy="114300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b="1" i="0" dirty="0">
                <a:solidFill>
                  <a:srgbClr val="002060"/>
                </a:solidFill>
                <a:effectLst/>
                <a:latin typeface="JetBrains Mono"/>
              </a:rPr>
              <a:t>Current Challenges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C943EA-80DA-4A6F-8E1A-32013635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2771952"/>
            <a:ext cx="3752850" cy="183167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buNone/>
            </a:pPr>
            <a:r>
              <a:rPr lang="en-GB" b="1" dirty="0"/>
              <a:t>Exclusion of Human Expertise in MAS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08AAA24-20CA-4DDF-89E2-6614E5552BD8}"/>
              </a:ext>
            </a:extLst>
          </p:cNvPr>
          <p:cNvSpPr txBox="1">
            <a:spLocks/>
          </p:cNvSpPr>
          <p:nvPr/>
        </p:nvSpPr>
        <p:spPr>
          <a:xfrm>
            <a:off x="4286253" y="2771956"/>
            <a:ext cx="3752850" cy="183167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b="1" dirty="0">
                <a:solidFill>
                  <a:schemeClr val="bg1"/>
                </a:solidFill>
                <a:latin typeface="JetBrains Mono"/>
              </a:rPr>
              <a:t>Reactive Nature of PdM</a:t>
            </a:r>
            <a:endParaRPr lang="en-GB" dirty="0">
              <a:solidFill>
                <a:schemeClr val="bg1"/>
              </a:solidFill>
              <a:latin typeface="JetBrains Mono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B1DACC0C-C724-48F3-BD87-1BF6B93D38D3}"/>
              </a:ext>
            </a:extLst>
          </p:cNvPr>
          <p:cNvSpPr txBox="1">
            <a:spLocks/>
          </p:cNvSpPr>
          <p:nvPr/>
        </p:nvSpPr>
        <p:spPr>
          <a:xfrm>
            <a:off x="8305804" y="2771956"/>
            <a:ext cx="3744000" cy="18316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b="1" dirty="0">
                <a:solidFill>
                  <a:schemeClr val="bg1"/>
                </a:solidFill>
                <a:latin typeface="JetBrains Mono"/>
              </a:rPr>
              <a:t>Lack of Unified Frameworks</a:t>
            </a:r>
            <a:endParaRPr lang="en-GB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93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886AB6-11FA-401D-B0D7-5ED7DF41C3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41" r="20868"/>
          <a:stretch/>
        </p:blipFill>
        <p:spPr>
          <a:xfrm>
            <a:off x="-1" y="0"/>
            <a:ext cx="5371381" cy="66431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4DBEEF-7D42-4ABD-B087-CE65068E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1" y="-229666"/>
            <a:ext cx="4011084" cy="1162050"/>
          </a:xfrm>
        </p:spPr>
        <p:txBody>
          <a:bodyPr>
            <a:normAutofit/>
          </a:bodyPr>
          <a:lstStyle/>
          <a:p>
            <a:r>
              <a:rPr lang="en-GB" sz="4000" dirty="0"/>
              <a:t>Literature 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C0274-8A24-435E-B870-46C2763B2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21087" y="1061504"/>
            <a:ext cx="6562724" cy="5452541"/>
          </a:xfrm>
          <a:solidFill>
            <a:schemeClr val="bg1"/>
          </a:solidFill>
          <a:effectLst>
            <a:glow rad="635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Integrated Frameworks: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fundamental lack of frameworks that seamlessly integrate real-time human decision-making with autonomous agents within a unified architecture, particularly for demanding tasks like predictive maintenance.  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Untapped Bidirectional Communication: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Human-in-the-Loop (HITL) implementations largely lack robust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bidirectional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mechanisms, treating human operators as external overseers rather than integral, intelligent agents within the system.  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Underexplored PdM-HITL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significant limitation due to the underexplored integration of modern Predictive Maintenance (PdM) systems with HITL frameworks within an overarching Multi-Agent System (MAS).  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52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BEEF-7D42-4ABD-B087-CE65068E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0"/>
            <a:ext cx="4011084" cy="1162050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002060"/>
                </a:solidFill>
              </a:rPr>
              <a:t>Project Objectives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C0274-8A24-435E-B870-46C2763B2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774" y="1467918"/>
            <a:ext cx="11280776" cy="4679948"/>
          </a:xfrm>
          <a:solidFill>
            <a:schemeClr val="bg1"/>
          </a:solidFill>
          <a:effectLst>
            <a:glow rad="635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2800" b="1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Hybrid Architecture: </a:t>
            </a:r>
            <a:r>
              <a:rPr lang="en-GB" sz="2800" b="0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Unify MAS, Human Coordination, and AI-driven PdM.   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2800" b="1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Symbiotic Relationship: </a:t>
            </a:r>
            <a:r>
              <a:rPr lang="en-GB" sz="2800" b="0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Harmonize AI precision with human contextual awareness for superior performance.   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2800" b="1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Bidirectional Protocols: </a:t>
            </a:r>
            <a:r>
              <a:rPr lang="en-GB" sz="2800" b="0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Design robust communication to allow human operators to refine AI predictions in real-time.   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2800" b="1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Adaptive Learning: </a:t>
            </a:r>
            <a:r>
              <a:rPr lang="en-GB" sz="2800" b="0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Reinforcement Learning (RL) policy updates based on operational feedback.   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GB" sz="2800" b="1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Validate Efficacy: </a:t>
            </a:r>
            <a:r>
              <a:rPr lang="en-GB" sz="2800" b="0" i="0" dirty="0">
                <a:solidFill>
                  <a:schemeClr val="tx1"/>
                </a:solidFill>
                <a:effectLst/>
                <a:ea typeface="Sans Serif Collection" panose="020B0502040504020204" pitchFamily="34" charset="0"/>
                <a:cs typeface="Sans Serif Collection" panose="020B0502040504020204" pitchFamily="34" charset="0"/>
              </a:rPr>
              <a:t>Empirically demonstrate ability to reduce unplanned downtime/costs and enhance accuracy/trust</a:t>
            </a:r>
            <a:r>
              <a:rPr lang="en-GB" sz="2000" b="0" i="0" dirty="0">
                <a:solidFill>
                  <a:schemeClr val="tx1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84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BEEF-7D42-4ABD-B087-CE65068E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99" y="-337223"/>
            <a:ext cx="4011084" cy="1162050"/>
          </a:xfrm>
        </p:spPr>
        <p:txBody>
          <a:bodyPr/>
          <a:lstStyle/>
          <a:p>
            <a:r>
              <a:rPr lang="en-GB" sz="4000" dirty="0">
                <a:solidFill>
                  <a:srgbClr val="002060"/>
                </a:solidFill>
              </a:rPr>
              <a:t>Methodology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443CE62-62F1-45DC-9757-3B232E895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900467"/>
            <a:ext cx="11252200" cy="5447645"/>
          </a:xfrm>
          <a:prstGeom prst="rect">
            <a:avLst/>
          </a:prstGeom>
          <a:solidFill>
            <a:schemeClr val="bg1"/>
          </a:solidFill>
          <a:ln/>
          <a:effectLst>
            <a:glow rad="635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research was structured using a methodical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Six-Phase Framework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systematic development and validation of the IAPM framework: 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Modeling &amp; Agent Definition: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the hybrid MAS architecture using ABMS tools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NetLogo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defining agent roles and interaction protocols.  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Integration: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 a sensor data pipeline to stream real-time operational data (e.g., from the CNC milling machine) into the MAS.  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 Prediction &amp; Human-AI Collaboration: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networks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data to forecast failures and implement a human-in-the-loop dashboard for collaboration.  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 Maintenance Scheduling: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optimization algorithms to prioritize maintenance based on failure severity, resources, and production schedules.  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Monitoring &amp; Feedback Loops: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 dynamic feedback loop to update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 policies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ABMS rules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human operational input and post-maintenance data.  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&amp; Analysis: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Rigorously evaluate the framework's performance using quantitative and qualitative metrics. 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953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BEEF-7D42-4ABD-B087-CE65068E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99" y="-329676"/>
            <a:ext cx="4011084" cy="1162050"/>
          </a:xfrm>
        </p:spPr>
        <p:txBody>
          <a:bodyPr/>
          <a:lstStyle/>
          <a:p>
            <a:r>
              <a:rPr lang="en-GB" sz="4000" dirty="0"/>
              <a:t>Methodology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3DB5FB-B349-44EF-BEC9-B96E139CC42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087" y="890588"/>
            <a:ext cx="5846763" cy="56943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2680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BEEF-7D42-4ABD-B087-CE65068E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99" y="-329676"/>
            <a:ext cx="4011084" cy="1162050"/>
          </a:xfrm>
        </p:spPr>
        <p:txBody>
          <a:bodyPr/>
          <a:lstStyle/>
          <a:p>
            <a:r>
              <a:rPr lang="en-GB" sz="4000" dirty="0"/>
              <a:t>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2D4273-E091-43D0-9B58-2CC7C1D3D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1182231"/>
            <a:ext cx="104140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39750" marR="0" lvl="0" indent="-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Study Focus: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efficacy of the IAPM framework was validated using a comprehensive mixed-methods approach, with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Spot Welding Machine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primary case study.   </a:t>
            </a:r>
          </a:p>
          <a:p>
            <a:pPr marL="539750" marR="0" lvl="0" indent="-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Rationale for Selection: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spot welding machine was selected due to its representative nature within modern manufacturing, its reliance on multiple components susceptible to wear and failure, and its suitability for real-time sensor data collection.   </a:t>
            </a:r>
          </a:p>
          <a:p>
            <a:pPr marL="539750" marR="0" lvl="0" indent="-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Inputs: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collected included key operational parameters such as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vibration, temperature, and power consumption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are strong indicators of machine health.   </a:t>
            </a:r>
          </a:p>
          <a:p>
            <a:pPr marL="539750" marR="0" lvl="0" indent="-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Strategy: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study initially prioritized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datasets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validated against industry benchmarks, with incremental partnerships pursued for later-stage acquisition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data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local SMEs.   </a:t>
            </a:r>
          </a:p>
        </p:txBody>
      </p:sp>
    </p:spTree>
    <p:extLst>
      <p:ext uri="{BB962C8B-B14F-4D97-AF65-F5344CB8AC3E}">
        <p14:creationId xmlns:p14="http://schemas.microsoft.com/office/powerpoint/2010/main" val="80748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B0A1B5-948D-4C80-8EB7-1AA957BF1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0576" cy="668557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CA17284-0945-4917-9B3D-8E8DAB6C1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900" y="274638"/>
            <a:ext cx="3194050" cy="1143000"/>
          </a:xfrm>
          <a:prstGeom prst="roundRect">
            <a:avLst/>
          </a:prstGeom>
          <a:ln>
            <a:solidFill>
              <a:srgbClr val="0000F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002060"/>
                </a:solidFill>
              </a:rPr>
              <a:t>Main Findings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763750-2CAE-411B-A63F-ECC2EA064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335" y="1676402"/>
            <a:ext cx="9839325" cy="4314824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3000" b="1" i="0" dirty="0">
                <a:solidFill>
                  <a:schemeClr val="tx1"/>
                </a:solidFill>
                <a:effectLst/>
              </a:rPr>
              <a:t>Superior Performance: </a:t>
            </a:r>
            <a:r>
              <a:rPr lang="en-GB" sz="3000" i="0" dirty="0">
                <a:solidFill>
                  <a:schemeClr val="tx1"/>
                </a:solidFill>
                <a:effectLst/>
              </a:rPr>
              <a:t>The IAPM framework significantly outperformed baselines, achieving an F1-score &gt;0.85 and projected 15–20% downtime reduction.  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3000" b="1" i="0" dirty="0">
                <a:solidFill>
                  <a:schemeClr val="tx1"/>
                </a:solidFill>
                <a:effectLst/>
              </a:rPr>
              <a:t>Effective Human-AI Synergy: </a:t>
            </a:r>
            <a:r>
              <a:rPr lang="en-GB" sz="3000" i="0" dirty="0">
                <a:solidFill>
                  <a:schemeClr val="tx1"/>
                </a:solidFill>
                <a:effectLst/>
              </a:rPr>
              <a:t>Bidirectional human refinement minimized false alarms by 30-40%, fostering high operator trust and usability.  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3000" b="1" i="0" dirty="0">
                <a:solidFill>
                  <a:schemeClr val="tx1"/>
                </a:solidFill>
                <a:effectLst/>
              </a:rPr>
              <a:t>Hybrid Resilience: </a:t>
            </a:r>
            <a:r>
              <a:rPr lang="en-GB" sz="3000" i="0" dirty="0">
                <a:solidFill>
                  <a:schemeClr val="tx1"/>
                </a:solidFill>
                <a:effectLst/>
              </a:rPr>
              <a:t>The ABMS-RL hybrid confirmed stability, preventing unstable decisions and providing a resilient model superior to purely autonomous systems</a:t>
            </a:r>
            <a:r>
              <a:rPr lang="en-GB" sz="3000" b="1" i="0" dirty="0">
                <a:solidFill>
                  <a:schemeClr val="tx1"/>
                </a:solidFill>
                <a:effectLst/>
              </a:rPr>
              <a:t>.</a:t>
            </a:r>
            <a:endParaRPr lang="en-GB" sz="3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b="0" i="0" dirty="0">
              <a:solidFill>
                <a:schemeClr val="tx1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49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791A7C-1CB4-4E57-9635-161FB0E21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-34784"/>
            <a:ext cx="12191999" cy="667795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5E4B7D9-FE80-4091-9706-45D63A283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665" y="639562"/>
            <a:ext cx="3663351" cy="768561"/>
          </a:xfrm>
          <a:prstGeom prst="roundRect">
            <a:avLst/>
          </a:prstGeom>
          <a:ln>
            <a:solidFill>
              <a:srgbClr val="0000F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GB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Directions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E8D13-AD9F-4F64-911F-6D1F0C8D1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2082469"/>
            <a:ext cx="2948366" cy="301592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b="1" i="0" dirty="0">
                <a:effectLst/>
                <a:latin typeface="JetBrains Mono"/>
              </a:rPr>
              <a:t>Framework Validation in Diverse Environments</a:t>
            </a:r>
            <a:endParaRPr lang="en-GB" sz="2400" b="0" i="0" dirty="0">
              <a:solidFill>
                <a:schemeClr val="bg1"/>
              </a:solidFill>
              <a:effectLst/>
              <a:latin typeface="Int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D784B56-A304-452F-A4DB-5A7EFD7C3876}"/>
              </a:ext>
            </a:extLst>
          </p:cNvPr>
          <p:cNvSpPr txBox="1">
            <a:spLocks/>
          </p:cNvSpPr>
          <p:nvPr/>
        </p:nvSpPr>
        <p:spPr>
          <a:xfrm>
            <a:off x="4572154" y="2082469"/>
            <a:ext cx="3047691" cy="306342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>
                <a:solidFill>
                  <a:schemeClr val="bg1"/>
                </a:solidFill>
                <a:latin typeface="JetBrains Mono"/>
              </a:rPr>
              <a:t>Advanced RL Algorithm Investigation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699C97E5-5064-4386-8918-8B93DEF1C11E}"/>
              </a:ext>
            </a:extLst>
          </p:cNvPr>
          <p:cNvSpPr txBox="1">
            <a:spLocks/>
          </p:cNvSpPr>
          <p:nvPr/>
        </p:nvSpPr>
        <p:spPr>
          <a:xfrm>
            <a:off x="8634034" y="2082469"/>
            <a:ext cx="3057525" cy="306342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>
                <a:solidFill>
                  <a:schemeClr val="bg1"/>
                </a:solidFill>
                <a:latin typeface="JetBrains Mono"/>
              </a:rPr>
              <a:t>Long-Term Human-AI Impact Analysis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520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CA17284-0945-4917-9B3D-8E8DAB6C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4000" b="1" dirty="0"/>
              <a:t>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FF27A-B499-4DC9-B7D5-2527A1D9E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467098"/>
          </a:xfrm>
          <a:prstGeom prst="roundRect">
            <a:avLst/>
          </a:prstGeom>
          <a:solidFill>
            <a:schemeClr val="bg1"/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The research successfully validated the novel Intelligent Agent-Based Predictive Maintenance (IAPM) framework. This hybrid model unifies AI-driven analytics with real-time human-in-the-loop decision-making.  The IAPM framework demonstrated significant operational improvement , achieving a projected 15–20% reduction in unplanned downtime and a 20–30% reduction in maintenance costs. The empirical validation confirmed that bidirectional communication protocols enabled human operators to refine AI predictions, minimizing false alarms by 30–40%. Ultimately, the core contribution is the validation of the human-AI symbiosis model, proving that integrating human operators as decision-makers enhances system resilience, fosters trust, and offers a scalable solution for Industry 4.0.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209FA2-39D4-4959-BB39-653563FE1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8737" y="5496284"/>
            <a:ext cx="3356173" cy="717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132682-6E5F-420A-B66D-F67EA52D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212" y="209147"/>
            <a:ext cx="11049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94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BEEF-7D42-4ABD-B087-CE65068E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50811"/>
            <a:ext cx="4011084" cy="1162050"/>
          </a:xfrm>
        </p:spPr>
        <p:txBody>
          <a:bodyPr>
            <a:normAutofit/>
          </a:bodyPr>
          <a:lstStyle/>
          <a:p>
            <a:r>
              <a:rPr lang="en-GB" sz="4000" dirty="0"/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C0274-8A24-435E-B870-46C2763B2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850" y="1435101"/>
            <a:ext cx="5210175" cy="497522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GB" sz="1600" dirty="0"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3A43B-8D1A-4064-B1F8-CB0177C8E078}"/>
              </a:ext>
            </a:extLst>
          </p:cNvPr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E96245-9351-4263-8B8E-DBE34AED63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438"/>
          <a:stretch/>
        </p:blipFill>
        <p:spPr>
          <a:xfrm>
            <a:off x="5905500" y="0"/>
            <a:ext cx="6286500" cy="667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25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19"/>
          <a:stretch/>
        </p:blipFill>
        <p:spPr>
          <a:xfrm>
            <a:off x="0" y="-447758"/>
            <a:ext cx="12192000" cy="47198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0800000">
            <a:off x="-1" y="6643166"/>
            <a:ext cx="12191999" cy="214833"/>
          </a:xfrm>
          <a:prstGeom prst="rect">
            <a:avLst/>
          </a:prstGeom>
          <a:gradFill>
            <a:gsLst>
              <a:gs pos="100000">
                <a:srgbClr val="CE57C1"/>
              </a:gs>
              <a:gs pos="27000">
                <a:srgbClr val="000044"/>
              </a:gs>
            </a:gsLst>
            <a:lin ang="135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3980823" y="4837603"/>
            <a:ext cx="4213650" cy="948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en-US" sz="2400" b="1" cap="all" dirty="0">
                <a:solidFill>
                  <a:srgbClr val="000044"/>
                </a:solidFill>
                <a:cs typeface="DIN-Regular"/>
              </a:rPr>
              <a:t>Visit us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941" y="4571019"/>
            <a:ext cx="984882" cy="98488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4965" y="5905717"/>
            <a:ext cx="2342070" cy="500977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729627" y="2814871"/>
            <a:ext cx="4732741" cy="1146627"/>
          </a:xfrm>
          <a:prstGeom prst="rect">
            <a:avLst/>
          </a:prstGeom>
          <a:solidFill>
            <a:srgbClr val="00054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2209800" y="2632673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cap="all" dirty="0">
                <a:solidFill>
                  <a:schemeClr val="bg1"/>
                </a:solidFill>
                <a:latin typeface="Calibri"/>
                <a:cs typeface="Calibri"/>
              </a:rPr>
              <a:t>THANK YOU</a:t>
            </a:r>
            <a:endParaRPr lang="en-US" sz="6000" b="1" cap="all" spc="3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083433" y="4643405"/>
            <a:ext cx="288000" cy="64800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ubtitle 2"/>
          <p:cNvSpPr txBox="1">
            <a:spLocks/>
          </p:cNvSpPr>
          <p:nvPr/>
        </p:nvSpPr>
        <p:spPr>
          <a:xfrm>
            <a:off x="8173477" y="4830346"/>
            <a:ext cx="4213650" cy="948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en-US" sz="2400" b="1" cap="all" dirty="0">
                <a:solidFill>
                  <a:srgbClr val="000044"/>
                </a:solidFill>
                <a:cs typeface="DIN-Regular"/>
              </a:rPr>
              <a:t>FOLLOW 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6087" y="4643405"/>
            <a:ext cx="288000" cy="64800"/>
          </a:xfrm>
          <a:prstGeom prst="rect">
            <a:avLst/>
          </a:prstGeom>
          <a:solidFill>
            <a:srgbClr val="BA55A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7145189" y="4571020"/>
            <a:ext cx="1037081" cy="974527"/>
            <a:chOff x="7496912" y="3906329"/>
            <a:chExt cx="1093174" cy="1027237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558" b="75832"/>
            <a:stretch/>
          </p:blipFill>
          <p:spPr>
            <a:xfrm>
              <a:off x="7496912" y="3906329"/>
              <a:ext cx="1093174" cy="531499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22" t="-22" r="27371" b="76543"/>
            <a:stretch/>
          </p:blipFill>
          <p:spPr>
            <a:xfrm>
              <a:off x="7505704" y="4441198"/>
              <a:ext cx="518747" cy="492368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36" t="23779" r="51266" b="51483"/>
            <a:stretch/>
          </p:blipFill>
          <p:spPr>
            <a:xfrm>
              <a:off x="8078919" y="4414820"/>
              <a:ext cx="509954" cy="518746"/>
            </a:xfrm>
            <a:prstGeom prst="rect">
              <a:avLst/>
            </a:prstGeom>
          </p:spPr>
        </p:pic>
      </p:grpSp>
      <p:sp>
        <p:nvSpPr>
          <p:cNvPr id="17" name="Subtitle 2"/>
          <p:cNvSpPr txBox="1">
            <a:spLocks/>
          </p:cNvSpPr>
          <p:nvPr/>
        </p:nvSpPr>
        <p:spPr>
          <a:xfrm>
            <a:off x="3986221" y="5165265"/>
            <a:ext cx="4213650" cy="948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en-US" sz="1200" b="1" cap="all" dirty="0">
                <a:solidFill>
                  <a:srgbClr val="FFFF00"/>
                </a:solidFill>
                <a:cs typeface="DIN-Regular"/>
                <a:hlinkClick r:id="rId7"/>
              </a:rPr>
              <a:t>www.xjtlu.edu.cn</a:t>
            </a:r>
            <a:endParaRPr lang="en-US" sz="1100" b="1" cap="all" dirty="0">
              <a:solidFill>
                <a:srgbClr val="FFFF00"/>
              </a:solidFill>
              <a:cs typeface="DIN-Regular"/>
            </a:endParaRPr>
          </a:p>
        </p:txBody>
      </p:sp>
      <p:sp>
        <p:nvSpPr>
          <p:cNvPr id="19" name="Subtitle 2"/>
          <p:cNvSpPr txBox="1">
            <a:spLocks/>
          </p:cNvSpPr>
          <p:nvPr/>
        </p:nvSpPr>
        <p:spPr>
          <a:xfrm>
            <a:off x="8194473" y="5165265"/>
            <a:ext cx="4213650" cy="948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00"/>
              </a:lnSpc>
              <a:spcBef>
                <a:spcPts val="0"/>
              </a:spcBef>
              <a:buNone/>
            </a:pPr>
            <a:r>
              <a:rPr lang="en-US" sz="1200" b="1" cap="all" spc="50" dirty="0">
                <a:solidFill>
                  <a:srgbClr val="BA55A0"/>
                </a:solidFill>
                <a:cs typeface="DIN-Regular"/>
              </a:rPr>
              <a:t>@</a:t>
            </a:r>
            <a:r>
              <a:rPr lang="en-US" sz="1200" b="1" cap="all" spc="50" dirty="0" err="1">
                <a:solidFill>
                  <a:srgbClr val="BA55A0"/>
                </a:solidFill>
                <a:cs typeface="DIN-Regular"/>
              </a:rPr>
              <a:t>xjtlu</a:t>
            </a:r>
            <a:endParaRPr lang="en-US" sz="1200" b="1" cap="all" spc="50" dirty="0">
              <a:solidFill>
                <a:srgbClr val="BA55A0"/>
              </a:solidFill>
              <a:cs typeface="DIN-Regular"/>
            </a:endParaRPr>
          </a:p>
        </p:txBody>
      </p:sp>
    </p:spTree>
    <p:extLst>
      <p:ext uri="{BB962C8B-B14F-4D97-AF65-F5344CB8AC3E}">
        <p14:creationId xmlns:p14="http://schemas.microsoft.com/office/powerpoint/2010/main" val="85761621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<ct:contentTypeSchema ct:_="" ma:_="" ma:contentTypeName="Document" ma:contentTypeID="0x0101000C92E395E8E08542BE84397FDFC4739E" ma:contentTypeVersion="" ma:contentTypeDescription="Create a new document." ma:contentTypeScope="" ma:versionID="a6c32c42d6b9b054ce49606a6ea29a96" xmlns:ct="http://schemas.microsoft.com/office/2006/metadata/contentType" xmlns:ma="http://schemas.microsoft.com/office/2006/metadata/properties/metaAttributes">
<xsd:schema targetNamespace="http://schemas.microsoft.com/office/2006/metadata/properties" ma:root="true" ma:fieldsID="7503db7f5557d481fda480109d4de2ef" ns2:_="" ns3:_="" xmlns:xsd="http://www.w3.org/2001/XMLSchema" xmlns:xs="http://www.w3.org/2001/XMLSchema" xmlns:p="http://schemas.microsoft.com/office/2006/metadata/properties" xmlns:ns2="$ListId:Shared Documents;" xmlns:ns3="e8331262-de25-436d-8f05-154a071bbe3b">
<xsd:import namespace="$ListId:Shared Documents;"/>
<xsd:import namespace="e8331262-de25-436d-8f05-154a071bbe3b"/>
<xsd:element name="properties">
<xsd:complexType>
<xsd:sequence>
<xsd:element name="documentManagement">
<xsd:complexType>
<xsd:all>
<xsd:element ref="ns2:hc6d7eca65f9478abad7d03f5cf64e0f" minOccurs="0"/>
<xsd:element ref="ns3:TaxCatchAll" minOccurs="0"/>
</xsd:all>
</xsd:complexType>
</xsd:element>
</xsd:sequence>
</xsd:complexType>
</xsd:element>
</xsd:schema>
<xsd:schema targetNamespace="$ListId:Shared Documents;" elementFormDefault="qualified" xmlns:xsd="http://www.w3.org/2001/XMLSchema" xmlns:xs="http://www.w3.org/2001/XMLSchema" xmlns:dms="http://schemas.microsoft.com/office/2006/documentManagement/types" xmlns:pc="http://schemas.microsoft.com/office/infopath/2007/PartnerControls">
<xsd:import namespace="http://schemas.microsoft.com/office/2006/documentManagement/types"/>
<xsd:import namespace="http://schemas.microsoft.com/office/infopath/2007/PartnerControls"/>
<xsd:element name="hc6d7eca65f9478abad7d03f5cf64e0f" ma:index="9" nillable="true" ma:taxonomy="true" ma:internalName="hc6d7eca65f9478abad7d03f5cf64e0f" ma:taxonomyFieldName="Category" ma:displayName="Category" ma:default="" ma:fieldId="{1c6d7eca-65f9-478a-bad7-d03f5cf64e0f}" ma:sspId="415ee74b-2602-4e7a-8fdc-0d76d9df16f1" ma:termSetId="c9e38beb-e60a-46ec-a1a3-d119e6b2538e" ma:anchorId="00000000-0000-0000-0000-000000000000" ma:open="false" ma:isKeyword="false">
<xsd:complexType>
<xsd:sequence>
<xsd:element ref="pc:Terms" minOccurs="0" maxOccurs="1"></xsd:element>
</xsd:sequence>
</xsd:complexType>
</xsd:element>
</xsd:schema>
<xsd:schema targetNamespace="e8331262-de25-436d-8f05-154a071bbe3b" elementFormDefault="qualified" xmlns:xsd="http://www.w3.org/2001/XMLSchema" xmlns:xs="http://www.w3.org/2001/XMLSchema" xmlns:dms="http://schemas.microsoft.com/office/2006/documentManagement/types" xmlns:pc="http://schemas.microsoft.com/office/infopath/2007/PartnerControls">
<xsd:import namespace="http://schemas.microsoft.com/office/2006/documentManagement/types"/>
<xsd:import namespace="http://schemas.microsoft.com/office/infopath/2007/PartnerControls"/>
<xsd:element name="TaxCatchAll" ma:index="10" nillable="true" ma:displayName="Taxonomy Catch All Column" ma:hidden="true" ma:list="{1B25C4DA-95C3-46C8-9C47-A37510700FC4}" ma:internalName="TaxCatchAll" ma:showField="CatchAllData" ma:web="{94c9b129-8f0b-4efd-a3a7-0f552c179199}">
<xsd:complexType>
<xsd:complexContent>
<xsd:extension base="dms:MultiChoiceLookup">
<xsd:sequence>
<xsd:element name="Value" type="dms:Lookup" maxOccurs="unbounded" minOccurs="0" nillable="true"/>
</xsd:sequence>
</xsd:extension>
</xsd:complexContent>
</xsd:complexType>
</xsd:element>
</xsd:schema>
<xsd:schema targetNamespace="http://schemas.openxmlformats.org/package/2006/metadata/core-properties" elementFormDefault="qualified" attributeFormDefault="unqualified" blockDefault="#all"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>
<xsd:import namespace="http://purl.org/dc/elements/1.1/" schemaLocation="http://dublincore.org/schemas/xmls/qdc/2003/04/02/dc.xsd"/>
<xsd:import namespace="http://purl.org/dc/terms/" schemaLocation="http://dublincore.org/schemas/xmls/qdc/2003/04/02/dcterms.xsd"/>
<xsd:element name="coreProperties" type="CT_coreProperties"/>
<xsd:complexType name="CT_coreProperties">
<xsd:all>
<xsd:element ref="dc:creator" minOccurs="0" maxOccurs="1"/>
<xsd:element ref="dcterms:created" minOccurs="0" maxOccurs="1"/>
<xsd:element ref="dc:identifier" minOccurs="0" maxOccurs="1"/>
<xsd:element name="contentType" minOccurs="0" maxOccurs="1" type="xsd:string" ma:index="0" ma:displayName="Content Type"/>
<xsd:element ref="dc:title" minOccurs="0" maxOccurs="1" ma:index="4" ma:displayName="Title"/>
<xsd:element ref="dc:subject" minOccurs="0" maxOccurs="1"/>
<xsd:element ref="dc:description" minOccurs="0" maxOccurs="1"/>
<xsd:element name="keywords" minOccurs="0" maxOccurs="1" type="xsd:string"/>
<xsd:element ref="dc:language" minOccurs="0" maxOccurs="1"/>
<xsd:element name="category" minOccurs="0" maxOccurs="1" type="xsd:string"/>
<xsd:element name="version" minOccurs="0" maxOccurs="1" type="xsd:string"/>
<xsd:element name="revision" minOccurs="0" maxOccurs="1" type="xsd:string">
<xsd:annotation>
<xsd:documentation>
                        This value indicates the number of saves or revisions. The application is responsible for updating this value after each revision.
                    </xsd:documentation>
</xsd:annotation>
</xsd:element>
<xsd:element name="lastModifiedBy" minOccurs="0" maxOccurs="1" type="xsd:string"/>
<xsd:element ref="dcterms:modified" minOccurs="0" maxOccurs="1"/>
<xsd:element name="contentStatus" minOccurs="0" maxOccurs="1" type="xsd:string"/>
</xsd:all>
</xsd:complexType>
</xsd:schema>
<xs:schema targetNamespace="http://schemas.microsoft.com/office/infopath/2007/PartnerControls" elementFormDefault="qualified" attributeFormDefault="unqualified" xmlns:pc="http://schemas.microsoft.com/office/infopath/2007/PartnerControls" xmlns:xs="http://www.w3.org/2001/XMLSchema">
<xs:element name="Person">
<xs:complexType>
<xs:sequence>
<xs:element ref="pc:DisplayName" minOccurs="0"></xs:element>
<xs:element ref="pc:AccountId" minOccurs="0"></xs:element>
<xs:element ref="pc:AccountType" minOccurs="0"></xs:element>
</xs:sequence>
</xs:complexType>
</xs:element>
<xs:element name="DisplayName" type="xs:string"></xs:element>
<xs:element name="AccountId" type="xs:string"></xs:element>
<xs:element name="AccountType" type="xs:string"></xs:element>
<xs:element name="BDCAssociatedEntity">
<xs:complexType>
<xs:sequence>
<xs:element ref="pc:BDCEntity" minOccurs="0" maxOccurs="unbounded"></xs:element>
</xs:sequence>
<xs:attribute ref="pc:EntityNamespace"></xs:attribute>
<xs:attribute ref="pc:EntityName"></xs:attribute>
<xs:attribute ref="pc:SystemInstanceName"></xs:attribute>
<xs:attribute ref="pc:AssociationName"></xs:attribute>
</xs:complexType>
</xs:element>
<xs:attribute name="EntityNamespace" type="xs:string"></xs:attribute>
<xs:attribute name="EntityName" type="xs:string"></xs:attribute>
<xs:attribute name="SystemInstanceName" type="xs:string"></xs:attribute>
<xs:attribute name="AssociationName" type="xs:string"></xs:attribute>
<xs:element name="BDCEntity">
<xs:complexType>
<xs:sequence>
<xs:element ref="pc:EntityDisplayName" minOccurs="0"></xs:element>
<xs:element ref="pc:EntityInstanceReference" minOccurs="0"></xs:element>
<xs:element ref="pc:EntityId1" minOccurs="0"></xs:element>
<xs:element ref="pc:EntityId2" minOccurs="0"></xs:element>
<xs:element ref="pc:EntityId3" minOccurs="0"></xs:element>
<xs:element ref="pc:EntityId4" minOccurs="0"></xs:element>
<xs:element ref="pc:EntityId5" minOccurs="0"></xs:element>
</xs:sequence>
</xs:complexType>
</xs:element>
<xs:element name="EntityDisplayName" type="xs:string"></xs:element>
<xs:element name="EntityInstanceReference" type="xs:string"></xs:element>
<xs:element name="EntityId1" type="xs:string"></xs:element>
<xs:element name="EntityId2" type="xs:string"></xs:element>
<xs:element name="EntityId3" type="xs:string"></xs:element>
<xs:element name="EntityId4" type="xs:string"></xs:element>
<xs:element name="EntityId5" type="xs:string"></xs:element>
<xs:element name="Terms">
<xs:complexType>
<xs:sequence>
<xs:element ref="pc:TermInfo" minOccurs="0" maxOccurs="unbounded"></xs:element>
</xs:sequence>
</xs:complexType>
</xs:element>
<xs:element name="TermInfo">
<xs:complexType>
<xs:sequence>
<xs:element ref="pc:TermName" minOccurs="0"></xs:element>
<xs:element ref="pc:TermId" minOccurs="0"></xs:element>
</xs:sequence>
</xs:complexType>
</xs:element>
<xs:element name="TermName" type="xs:string"></xs:element>
<xs:element name="TermId" type="xs:string"></xs:element>
</xs:schema>
</ct:contentTypeSchema>
</file>

<file path=customXml/item2.xml><?xml version="1.0" encoding="utf-8"?><p:properties xmlns:p="http://schemas.microsoft.com/office/2006/metadata/properties" xmlns:xsi="http://www.w3.org/2001/XMLSchema-instance" xmlns:pc="http://schemas.microsoft.com/office/infopath/2007/PartnerControls"><documentManagement><hc6d7eca65f9478abad7d03f5cf64e0f xmlns="$ListId:Shared Documents;"><Terms xmlns="http://schemas.microsoft.com/office/infopath/2007/PartnerControls"></Terms></hc6d7eca65f9478abad7d03f5cf64e0f><TaxCatchAll xmlns="e8331262-de25-436d-8f05-154a071bbe3b"/></documentManagement>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C8E77D-B8E2-43BF-A607-672D88FF0D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$ListId:Shared Documents;"/>
    <ds:schemaRef ds:uri="e8331262-de25-436d-8f05-154a071bbe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E0F55A-5ACE-4E81-A452-A8FF73E0354A}">
  <ds:schemaRefs>
    <ds:schemaRef ds:uri="$ListId:Shared Documents;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e8331262-de25-436d-8f05-154a071bbe3b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DCF8A76-1436-47FC-9370-1D27FEBE2E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2129</TotalTime>
  <Words>1049</Words>
  <Application>Microsoft Office PowerPoint</Application>
  <PresentationFormat>Widescreen</PresentationFormat>
  <Paragraphs>75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Inter</vt:lpstr>
      <vt:lpstr>JetBrains Mono</vt:lpstr>
      <vt:lpstr>Arial</vt:lpstr>
      <vt:lpstr>Calibri</vt:lpstr>
      <vt:lpstr>Sans Serif Collection</vt:lpstr>
      <vt:lpstr>Wingdings</vt:lpstr>
      <vt:lpstr>Default Theme</vt:lpstr>
      <vt:lpstr> A Hybrid Framework for Real-Time Human Coordination and Predictive Maintenance in Multi-Agent Systems</vt:lpstr>
      <vt:lpstr>Contents</vt:lpstr>
      <vt:lpstr>Background</vt:lpstr>
      <vt:lpstr>Current Challenges</vt:lpstr>
      <vt:lpstr>Literature Review</vt:lpstr>
      <vt:lpstr>Project Objectives</vt:lpstr>
      <vt:lpstr>Methodology</vt:lpstr>
      <vt:lpstr>Methodology</vt:lpstr>
      <vt:lpstr>Case Study</vt:lpstr>
      <vt:lpstr>Main Findings</vt:lpstr>
      <vt:lpstr>Future Directions</vt:lpstr>
      <vt:lpstr>Conclusion</vt:lpstr>
      <vt:lpstr>References</vt:lpstr>
      <vt:lpstr>PowerPoint Presentation</vt:lpstr>
    </vt:vector>
  </TitlesOfParts>
  <Company>Xi'an Jiaotong-Liverpool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XJTLU</dc:title>
  <dc:creator>Tom Ennis</dc:creator>
  <cp:lastModifiedBy>Oswaldo Escudero</cp:lastModifiedBy>
  <cp:revision>284</cp:revision>
  <cp:lastPrinted>2017-09-14T05:15:08Z</cp:lastPrinted>
  <dcterms:created xsi:type="dcterms:W3CDTF">2016-01-19T04:00:20Z</dcterms:created>
  <dcterms:modified xsi:type="dcterms:W3CDTF">2025-12-11T10:17:39Z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0x0101000C92E395E8E08542BE84397FDFC4739E</vt:lpwstr>
  </property>
  <property fmtid="{D5CDD505-2E9C-101B-9397-08002B2CF9AE}" pid="3" name="Category">
    <vt:lpwstr/>
  </property>
</Properties>
</file>